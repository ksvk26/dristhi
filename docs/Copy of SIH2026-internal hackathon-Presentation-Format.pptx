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Oswald"/>
      <p:regular r:id="rId20"/>
      <p:bold r:id="rId21"/>
    </p:embeddedFont>
    <p:embeddedFont>
      <p:font typeface="Inter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ea8HzfN8dPQFm05wXpV3oQ1+I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22" Type="http://schemas.openxmlformats.org/officeDocument/2006/relationships/font" Target="fonts/InterMedium-regular.fntdata"/><Relationship Id="rId21" Type="http://schemas.openxmlformats.org/officeDocument/2006/relationships/font" Target="fonts/Oswald-bold.fntdata"/><Relationship Id="rId24" Type="http://schemas.openxmlformats.org/officeDocument/2006/relationships/font" Target="fonts/InterMedium-italic.fntdata"/><Relationship Id="rId23" Type="http://schemas.openxmlformats.org/officeDocument/2006/relationships/font" Target="fonts/Inter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Inter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19" Type="http://schemas.openxmlformats.org/officeDocument/2006/relationships/font" Target="fonts/Inter-boldItalic.fntdata"/><Relationship Id="rId18" Type="http://schemas.openxmlformats.org/officeDocument/2006/relationships/font" Target="fonts/Inter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ac772795a_9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8" name="Google Shape;98;g3fac772795a_9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ac772795a_94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ac772795a_94_1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9" name="Google Shape;139;g3fac772795a_94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ac772795a_94_16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ac772795a_0_10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6" name="Google Shape;156;g3fac772795a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ac772795a_0_10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ac772795a_0_15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8" name="Google Shape;178;g3fac772795a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ac772795a_0_150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ac772795a_0_18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2" name="Google Shape;192;g3fac772795a_0_1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fac772795a_0_189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ac772795a_112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04" name="Google Shape;204;g3fac772795a_112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fac772795a_112_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4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5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5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3" Type="http://schemas.openxmlformats.org/officeDocument/2006/relationships/image" Target="../media/image2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2.png"/><Relationship Id="rId1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hyperlink" Target="https://webrtc.org/" TargetMode="External"/><Relationship Id="rId10" Type="http://schemas.openxmlformats.org/officeDocument/2006/relationships/hyperlink" Target="https://docs.ultralytics.com/" TargetMode="External"/><Relationship Id="rId13" Type="http://schemas.openxmlformats.org/officeDocument/2006/relationships/hyperlink" Target="https://docs.opencv.org/" TargetMode="External"/><Relationship Id="rId12" Type="http://schemas.openxmlformats.org/officeDocument/2006/relationships/hyperlink" Target="https://postgresql.org/docs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hyperlink" Target="https://socialjustice.gov.in/" TargetMode="External"/><Relationship Id="rId5" Type="http://schemas.openxmlformats.org/officeDocument/2006/relationships/hyperlink" Target="https://socialjustice.gov.in/" TargetMode="External"/><Relationship Id="rId6" Type="http://schemas.openxmlformats.org/officeDocument/2006/relationships/hyperlink" Target="https://socialjustice.gov.in/schemes" TargetMode="External"/><Relationship Id="rId7" Type="http://schemas.openxmlformats.org/officeDocument/2006/relationships/hyperlink" Target="https://digitalindia.gov.in/" TargetMode="External"/><Relationship Id="rId8" Type="http://schemas.openxmlformats.org/officeDocument/2006/relationships/hyperlink" Target="https://uidai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7091876" y="258025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1245686" y="648614"/>
            <a:ext cx="9713046" cy="870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>
            <p:ph type="ctrTitle"/>
          </p:nvPr>
        </p:nvSpPr>
        <p:spPr>
          <a:xfrm>
            <a:off x="914400" y="1077361"/>
            <a:ext cx="10363200" cy="1850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6" y="2534970"/>
            <a:ext cx="5924550" cy="3948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Title-</a:t>
            </a:r>
            <a:endParaRPr/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Name-</a:t>
            </a:r>
            <a:endParaRPr/>
          </a:p>
          <a:p>
            <a:pPr indent="-1333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9132" y="210312"/>
            <a:ext cx="11956658" cy="6437376"/>
          </a:xfrm>
          <a:prstGeom prst="rect">
            <a:avLst/>
          </a:prstGeom>
          <a:noFill/>
          <a:ln cap="flat" cmpd="sng" w="28575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014" y="246524"/>
            <a:ext cx="4202898" cy="1120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c772795a_94_0"/>
          <p:cNvSpPr/>
          <p:nvPr/>
        </p:nvSpPr>
        <p:spPr>
          <a:xfrm>
            <a:off x="79132" y="210312"/>
            <a:ext cx="11956800" cy="6437400"/>
          </a:xfrm>
          <a:prstGeom prst="rect">
            <a:avLst/>
          </a:prstGeom>
          <a:noFill/>
          <a:ln cap="flat" cmpd="sng" w="28575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fac772795a_94_0"/>
          <p:cNvSpPr/>
          <p:nvPr/>
        </p:nvSpPr>
        <p:spPr>
          <a:xfrm>
            <a:off x="401788" y="1429323"/>
            <a:ext cx="3571800" cy="4667400"/>
          </a:xfrm>
          <a:prstGeom prst="roundRect">
            <a:avLst>
              <a:gd fmla="val 320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fac772795a_94_0"/>
          <p:cNvSpPr txBox="1"/>
          <p:nvPr/>
        </p:nvSpPr>
        <p:spPr>
          <a:xfrm>
            <a:off x="420600" y="1429334"/>
            <a:ext cx="3571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PROPOSED SOLUTION</a:t>
            </a:r>
            <a:endParaRPr b="1"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g3fac772795a_94_0"/>
          <p:cNvSpPr txBox="1"/>
          <p:nvPr/>
        </p:nvSpPr>
        <p:spPr>
          <a:xfrm>
            <a:off x="4572000" y="428625"/>
            <a:ext cx="666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1364F"/>
                </a:solidFill>
                <a:latin typeface="Oswald"/>
                <a:ea typeface="Oswald"/>
                <a:cs typeface="Oswald"/>
                <a:sym typeface="Oswald"/>
              </a:rPr>
              <a:t>           </a:t>
            </a:r>
            <a:r>
              <a:rPr b="1" lang="en-US" sz="2800">
                <a:solidFill>
                  <a:srgbClr val="21364F"/>
                </a:solidFill>
                <a:latin typeface="Oswald"/>
                <a:ea typeface="Oswald"/>
                <a:cs typeface="Oswald"/>
                <a:sym typeface="Oswald"/>
              </a:rPr>
              <a:t>DRISHTI</a:t>
            </a:r>
            <a:endParaRPr b="1" sz="2800">
              <a:solidFill>
                <a:srgbClr val="21364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5" name="Google Shape;105;g3fac772795a_94_0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6" name="Google Shape;106;g3fac772795a_94_0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7" name="Google Shape;107;g3fac772795a_9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61" y="237471"/>
            <a:ext cx="4202899" cy="1120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fac772795a_94_0" title="Layer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338" y="2014825"/>
            <a:ext cx="718900" cy="5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g3fac772795a_94_0"/>
          <p:cNvSpPr txBox="1"/>
          <p:nvPr/>
        </p:nvSpPr>
        <p:spPr>
          <a:xfrm>
            <a:off x="1296596" y="2056000"/>
            <a:ext cx="25248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MoSJE Oversight &amp; Web Dashboard 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Define Policy, Monitor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cxnSp>
        <p:nvCxnSpPr>
          <p:cNvPr id="110" name="Google Shape;110;g3fac772795a_94_0"/>
          <p:cNvCxnSpPr/>
          <p:nvPr/>
        </p:nvCxnSpPr>
        <p:spPr>
          <a:xfrm>
            <a:off x="2190163" y="2677816"/>
            <a:ext cx="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1" name="Google Shape;111;g3fac772795a_94_0" title="Layer 3.png"/>
          <p:cNvPicPr preferRelativeResize="0"/>
          <p:nvPr/>
        </p:nvPicPr>
        <p:blipFill rotWithShape="1">
          <a:blip r:embed="rId5">
            <a:alphaModFix/>
          </a:blip>
          <a:srcRect b="0" l="1475" r="1485" t="0"/>
          <a:stretch/>
        </p:blipFill>
        <p:spPr>
          <a:xfrm>
            <a:off x="562117" y="3153035"/>
            <a:ext cx="718900" cy="5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fac772795a_94_0"/>
          <p:cNvSpPr txBox="1"/>
          <p:nvPr/>
        </p:nvSpPr>
        <p:spPr>
          <a:xfrm>
            <a:off x="1321375" y="3194210"/>
            <a:ext cx="25248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Central Al Hub &amp; Automation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Data Process, Random Assign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cxnSp>
        <p:nvCxnSpPr>
          <p:cNvPr id="113" name="Google Shape;113;g3fac772795a_94_0"/>
          <p:cNvCxnSpPr/>
          <p:nvPr/>
        </p:nvCxnSpPr>
        <p:spPr>
          <a:xfrm>
            <a:off x="2190267" y="3824889"/>
            <a:ext cx="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4" name="Google Shape;114;g3fac772795a_94_0" title="Layer 4.png"/>
          <p:cNvPicPr preferRelativeResize="0"/>
          <p:nvPr/>
        </p:nvPicPr>
        <p:blipFill rotWithShape="1">
          <a:blip r:embed="rId6">
            <a:alphaModFix/>
          </a:blip>
          <a:srcRect b="3471" l="0" r="0" t="3471"/>
          <a:stretch/>
        </p:blipFill>
        <p:spPr>
          <a:xfrm>
            <a:off x="561905" y="4221160"/>
            <a:ext cx="718900" cy="5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fac772795a_94_0"/>
          <p:cNvSpPr txBox="1"/>
          <p:nvPr/>
        </p:nvSpPr>
        <p:spPr>
          <a:xfrm>
            <a:off x="1321163" y="4262335"/>
            <a:ext cx="25248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Field App &amp; Live Feeds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Capture Geo- Evidence, Live VC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cxnSp>
        <p:nvCxnSpPr>
          <p:cNvPr id="116" name="Google Shape;116;g3fac772795a_94_0"/>
          <p:cNvCxnSpPr/>
          <p:nvPr/>
        </p:nvCxnSpPr>
        <p:spPr>
          <a:xfrm>
            <a:off x="2190055" y="4893014"/>
            <a:ext cx="0" cy="3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g3fac772795a_94_0"/>
          <p:cNvSpPr txBox="1"/>
          <p:nvPr/>
        </p:nvSpPr>
        <p:spPr>
          <a:xfrm>
            <a:off x="1350663" y="5330460"/>
            <a:ext cx="25248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Analytics &amp; Insights Detect </a:t>
            </a:r>
            <a:r>
              <a:rPr lang="en-US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Anomalies, Verify Attendance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8" name="Google Shape;118;g3fac772795a_94_0" title="Layer 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2263" y="5289280"/>
            <a:ext cx="758608" cy="5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fac772795a_94_0"/>
          <p:cNvSpPr/>
          <p:nvPr/>
        </p:nvSpPr>
        <p:spPr>
          <a:xfrm>
            <a:off x="4300688" y="1439785"/>
            <a:ext cx="3571800" cy="4667400"/>
          </a:xfrm>
          <a:prstGeom prst="roundRect">
            <a:avLst>
              <a:gd fmla="val 320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fac772795a_94_0"/>
          <p:cNvSpPr txBox="1"/>
          <p:nvPr/>
        </p:nvSpPr>
        <p:spPr>
          <a:xfrm>
            <a:off x="4319500" y="1439797"/>
            <a:ext cx="3571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HOW IT ADDRESSES THE PROBLEM</a:t>
            </a:r>
            <a:endParaRPr b="1"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1" name="Google Shape;121;g3fac772795a_94_0" title="Layer 6.png"/>
          <p:cNvPicPr preferRelativeResize="0"/>
          <p:nvPr/>
        </p:nvPicPr>
        <p:blipFill rotWithShape="1">
          <a:blip r:embed="rId8">
            <a:alphaModFix/>
          </a:blip>
          <a:srcRect b="610" l="-1310" r="1310" t="-610"/>
          <a:stretch/>
        </p:blipFill>
        <p:spPr>
          <a:xfrm>
            <a:off x="4750413" y="2037927"/>
            <a:ext cx="503502" cy="6069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fac772795a_94_0"/>
          <p:cNvSpPr txBox="1"/>
          <p:nvPr/>
        </p:nvSpPr>
        <p:spPr>
          <a:xfrm>
            <a:off x="5195496" y="2066463"/>
            <a:ext cx="25248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Eliminates Fake Reporting </a:t>
            </a:r>
            <a:r>
              <a:rPr lang="en-US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Tamper-proof Data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23" name="Google Shape;123;g3fac772795a_94_0" title="Layer 7.png"/>
          <p:cNvPicPr preferRelativeResize="0"/>
          <p:nvPr/>
        </p:nvPicPr>
        <p:blipFill rotWithShape="1">
          <a:blip r:embed="rId9">
            <a:alphaModFix/>
          </a:blip>
          <a:srcRect b="11198" l="0" r="0" t="11198"/>
          <a:stretch/>
        </p:blipFill>
        <p:spPr>
          <a:xfrm>
            <a:off x="4642705" y="3200010"/>
            <a:ext cx="718900" cy="5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fac772795a_94_0"/>
          <p:cNvSpPr txBox="1"/>
          <p:nvPr/>
        </p:nvSpPr>
        <p:spPr>
          <a:xfrm>
            <a:off x="5220275" y="3204672"/>
            <a:ext cx="25248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Prevents Collusion 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Random Assignments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25" name="Google Shape;125;g3fac772795a_94_0" title="Layer 8.png"/>
          <p:cNvPicPr preferRelativeResize="0"/>
          <p:nvPr/>
        </p:nvPicPr>
        <p:blipFill rotWithShape="1">
          <a:blip r:embed="rId10">
            <a:alphaModFix/>
          </a:blip>
          <a:srcRect b="0" l="1580" r="-1580" t="0"/>
          <a:stretch/>
        </p:blipFill>
        <p:spPr>
          <a:xfrm>
            <a:off x="4601325" y="4285488"/>
            <a:ext cx="782425" cy="54538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fac772795a_94_0"/>
          <p:cNvSpPr txBox="1"/>
          <p:nvPr/>
        </p:nvSpPr>
        <p:spPr>
          <a:xfrm>
            <a:off x="5220063" y="4272797"/>
            <a:ext cx="25248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Overcomes Bottlenecks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Efficient Scalability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" name="Google Shape;127;g3fac772795a_94_0"/>
          <p:cNvSpPr txBox="1"/>
          <p:nvPr/>
        </p:nvSpPr>
        <p:spPr>
          <a:xfrm>
            <a:off x="5249563" y="5340922"/>
            <a:ext cx="25248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Automates Compliance 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24/7 AI Auditing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28" name="Google Shape;128;g3fac772795a_94_0" title="Layer 9.png"/>
          <p:cNvPicPr preferRelativeResize="0"/>
          <p:nvPr/>
        </p:nvPicPr>
        <p:blipFill rotWithShape="1">
          <a:blip r:embed="rId11">
            <a:alphaModFix/>
          </a:blip>
          <a:srcRect b="942" l="0" r="0" t="932"/>
          <a:stretch/>
        </p:blipFill>
        <p:spPr>
          <a:xfrm>
            <a:off x="4622850" y="5336255"/>
            <a:ext cx="758608" cy="58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fac772795a_94_0"/>
          <p:cNvSpPr/>
          <p:nvPr/>
        </p:nvSpPr>
        <p:spPr>
          <a:xfrm>
            <a:off x="8180788" y="1439785"/>
            <a:ext cx="3571800" cy="4667400"/>
          </a:xfrm>
          <a:prstGeom prst="roundRect">
            <a:avLst>
              <a:gd fmla="val 320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ac772795a_94_0"/>
          <p:cNvSpPr txBox="1"/>
          <p:nvPr/>
        </p:nvSpPr>
        <p:spPr>
          <a:xfrm>
            <a:off x="8199600" y="1439797"/>
            <a:ext cx="3571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INNOVATION &amp; UNIQUENESS</a:t>
            </a:r>
            <a:endParaRPr b="1"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g3fac772795a_94_0"/>
          <p:cNvSpPr txBox="1"/>
          <p:nvPr/>
        </p:nvSpPr>
        <p:spPr>
          <a:xfrm>
            <a:off x="8710708" y="2682338"/>
            <a:ext cx="25248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Lightweight Al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Efficient, Low-Bandwidth Vision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2" name="Google Shape;132;g3fac772795a_94_0"/>
          <p:cNvSpPr txBox="1"/>
          <p:nvPr/>
        </p:nvSpPr>
        <p:spPr>
          <a:xfrm>
            <a:off x="8704288" y="4098010"/>
            <a:ext cx="25248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Zero-Trust Evidence </a:t>
            </a:r>
            <a:r>
              <a:rPr lang="en-US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Hardware-Verified Data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33" name="Google Shape;133;g3fac772795a_94_0"/>
          <p:cNvSpPr txBox="1"/>
          <p:nvPr/>
        </p:nvSpPr>
        <p:spPr>
          <a:xfrm>
            <a:off x="8735500" y="5392510"/>
            <a:ext cx="2524800" cy="6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Unified Ecosystem Centralized </a:t>
            </a:r>
            <a:r>
              <a:rPr lang="en-US"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Monitoring Platform</a:t>
            </a:r>
            <a:endParaRPr sz="10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34" name="Google Shape;134;g3fac772795a_94_0" title="Layer 10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049150" y="1961225"/>
            <a:ext cx="1835091" cy="68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fac772795a_94_0" title="Layer 11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209499" y="3292262"/>
            <a:ext cx="15768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fac772795a_94_0" title="Layer 12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8941924" y="4632525"/>
            <a:ext cx="2049552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ac772795a_94_167"/>
          <p:cNvSpPr/>
          <p:nvPr/>
        </p:nvSpPr>
        <p:spPr>
          <a:xfrm>
            <a:off x="79132" y="210312"/>
            <a:ext cx="11956800" cy="6437400"/>
          </a:xfrm>
          <a:prstGeom prst="rect">
            <a:avLst/>
          </a:prstGeom>
          <a:noFill/>
          <a:ln cap="flat" cmpd="sng" w="28575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g3fac772795a_94_167"/>
          <p:cNvGrpSpPr/>
          <p:nvPr/>
        </p:nvGrpSpPr>
        <p:grpSpPr>
          <a:xfrm>
            <a:off x="4572000" y="428625"/>
            <a:ext cx="6667500" cy="762000"/>
            <a:chOff x="0" y="0"/>
            <a:chExt cx="6667500" cy="762000"/>
          </a:xfrm>
        </p:grpSpPr>
        <p:sp>
          <p:nvSpPr>
            <p:cNvPr id="144" name="Google Shape;144;g3fac772795a_94_167"/>
            <p:cNvSpPr/>
            <p:nvPr/>
          </p:nvSpPr>
          <p:spPr>
            <a:xfrm>
              <a:off x="0" y="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g3fac772795a_94_167"/>
            <p:cNvSpPr txBox="1"/>
            <p:nvPr/>
          </p:nvSpPr>
          <p:spPr>
            <a:xfrm>
              <a:off x="0" y="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21364F"/>
                  </a:solidFill>
                  <a:latin typeface="Oswald"/>
                  <a:ea typeface="Oswald"/>
                  <a:cs typeface="Oswald"/>
                  <a:sym typeface="Oswald"/>
                </a:rPr>
                <a:t>TECHNICAL APPROACH</a:t>
              </a:r>
              <a:endParaRPr b="1" sz="2800">
                <a:solidFill>
                  <a:srgbClr val="21364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146" name="Google Shape;146;g3fac772795a_94_167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7" name="Google Shape;147;g3fac772795a_94_167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8" name="Google Shape;148;g3fac772795a_94_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61" y="228418"/>
            <a:ext cx="4202899" cy="112054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fac772795a_94_167"/>
          <p:cNvSpPr/>
          <p:nvPr/>
        </p:nvSpPr>
        <p:spPr>
          <a:xfrm>
            <a:off x="401825" y="1429325"/>
            <a:ext cx="8237400" cy="4926900"/>
          </a:xfrm>
          <a:prstGeom prst="roundRect">
            <a:avLst>
              <a:gd fmla="val 320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fac772795a_94_167"/>
          <p:cNvSpPr txBox="1"/>
          <p:nvPr/>
        </p:nvSpPr>
        <p:spPr>
          <a:xfrm>
            <a:off x="460401" y="1429313"/>
            <a:ext cx="8083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METHODOLOGY &amp; FLOW</a:t>
            </a:r>
            <a:endParaRPr b="1"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g3fac772795a_94_167"/>
          <p:cNvSpPr/>
          <p:nvPr/>
        </p:nvSpPr>
        <p:spPr>
          <a:xfrm>
            <a:off x="8888600" y="1429337"/>
            <a:ext cx="2844900" cy="4926900"/>
          </a:xfrm>
          <a:prstGeom prst="roundRect">
            <a:avLst>
              <a:gd fmla="val 320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ac772795a_94_167"/>
          <p:cNvSpPr txBox="1"/>
          <p:nvPr/>
        </p:nvSpPr>
        <p:spPr>
          <a:xfrm>
            <a:off x="8908831" y="1429325"/>
            <a:ext cx="2792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0" lIns="190500" spcFirstLastPara="1" rIns="190500" wrap="square" tIns="190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TECH STACK</a:t>
            </a:r>
            <a:endParaRPr b="1"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3" name="Google Shape;153;g3fac772795a_94_167" title="s2 Layer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988" y="1651250"/>
            <a:ext cx="7789066" cy="424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ac772795a_0_1029"/>
          <p:cNvSpPr/>
          <p:nvPr/>
        </p:nvSpPr>
        <p:spPr>
          <a:xfrm>
            <a:off x="79132" y="210312"/>
            <a:ext cx="11956800" cy="6437400"/>
          </a:xfrm>
          <a:prstGeom prst="rect">
            <a:avLst/>
          </a:prstGeom>
          <a:noFill/>
          <a:ln cap="flat" cmpd="sng" w="28575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fac772795a_0_1029"/>
          <p:cNvSpPr txBox="1"/>
          <p:nvPr>
            <p:ph type="title"/>
          </p:nvPr>
        </p:nvSpPr>
        <p:spPr>
          <a:xfrm>
            <a:off x="4572000" y="428625"/>
            <a:ext cx="6667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1364F"/>
                </a:solidFill>
                <a:latin typeface="Oswald"/>
                <a:ea typeface="Oswald"/>
                <a:cs typeface="Oswald"/>
                <a:sym typeface="Oswald"/>
              </a:rPr>
              <a:t>Technical Approach — DRISHTI</a:t>
            </a:r>
            <a:endParaRPr b="1" sz="2800">
              <a:solidFill>
                <a:srgbClr val="21364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61" name="Google Shape;161;g3fac772795a_0_1029"/>
          <p:cNvGrpSpPr/>
          <p:nvPr/>
        </p:nvGrpSpPr>
        <p:grpSpPr>
          <a:xfrm>
            <a:off x="428625" y="1476375"/>
            <a:ext cx="3571800" cy="4667400"/>
            <a:chOff x="0" y="0"/>
            <a:chExt cx="3571800" cy="4667400"/>
          </a:xfrm>
        </p:grpSpPr>
        <p:sp>
          <p:nvSpPr>
            <p:cNvPr id="162" name="Google Shape;162;g3fac772795a_0_1029"/>
            <p:cNvSpPr/>
            <p:nvPr/>
          </p:nvSpPr>
          <p:spPr>
            <a:xfrm>
              <a:off x="0" y="0"/>
              <a:ext cx="3571800" cy="4667400"/>
            </a:xfrm>
            <a:prstGeom prst="roundRect">
              <a:avLst>
                <a:gd fmla="val 320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g3fac772795a_0_1029"/>
            <p:cNvSpPr/>
            <p:nvPr/>
          </p:nvSpPr>
          <p:spPr>
            <a:xfrm>
              <a:off x="0" y="0"/>
              <a:ext cx="3571800" cy="573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g3fac772795a_0_1029"/>
            <p:cNvSpPr txBox="1"/>
            <p:nvPr/>
          </p:nvSpPr>
          <p:spPr>
            <a:xfrm>
              <a:off x="0" y="57150"/>
              <a:ext cx="3571800" cy="461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🛠️ Tech Stack &amp; Tools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Frontend &amp; Maps</a:t>
              </a:r>
              <a:br>
                <a:rPr b="1" lang="en-US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Flutter / React Native (Cross-platform), GPS + Google Maps API</a:t>
              </a:r>
              <a:endParaRPr b="1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Backend &amp; DB</a:t>
              </a:r>
              <a:br>
                <a:rPr b="1" lang="en-US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Python (FastAPI) + Node.js APIs, PostgreSQL &amp; Firebase</a:t>
              </a:r>
              <a:endParaRPr b="1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AI &amp; Computer Vision</a:t>
              </a:r>
              <a:br>
                <a:rPr b="1" lang="en-US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OpenCV, YOLO, Scikit-learn (Anomaly, attendance &amp; activity analytics)</a:t>
              </a:r>
              <a:endParaRPr b="1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Surveillance &amp; Comm</a:t>
              </a:r>
              <a:br>
                <a:rPr b="1" lang="en-US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RTSP/IP Camera, WebSockets (Live CCTV), WebRTC (Secure VC)</a:t>
              </a:r>
              <a:endParaRPr b="1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825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Security &amp; Deployment</a:t>
              </a:r>
              <a:br>
                <a:rPr b="1" lang="en-US" sz="12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0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JWT, RBAC, AES-256 encryption, Docker + Cloud/On-Premise</a:t>
              </a:r>
              <a:endParaRPr b="1" sz="12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65" name="Google Shape;165;g3fac772795a_0_1029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grpSp>
        <p:nvGrpSpPr>
          <p:cNvPr id="166" name="Google Shape;166;g3fac772795a_0_1029"/>
          <p:cNvGrpSpPr/>
          <p:nvPr/>
        </p:nvGrpSpPr>
        <p:grpSpPr>
          <a:xfrm>
            <a:off x="4191000" y="1476375"/>
            <a:ext cx="3619500" cy="4667400"/>
            <a:chOff x="0" y="0"/>
            <a:chExt cx="3619500" cy="4667400"/>
          </a:xfrm>
        </p:grpSpPr>
        <p:sp>
          <p:nvSpPr>
            <p:cNvPr id="167" name="Google Shape;167;g3fac772795a_0_1029"/>
            <p:cNvSpPr/>
            <p:nvPr/>
          </p:nvSpPr>
          <p:spPr>
            <a:xfrm>
              <a:off x="0" y="0"/>
              <a:ext cx="3619500" cy="4667400"/>
            </a:xfrm>
            <a:prstGeom prst="roundRect">
              <a:avLst>
                <a:gd fmla="val 315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g3fac772795a_0_1029"/>
            <p:cNvSpPr/>
            <p:nvPr/>
          </p:nvSpPr>
          <p:spPr>
            <a:xfrm>
              <a:off x="0" y="0"/>
              <a:ext cx="3619500" cy="573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g3fac772795a_0_1029"/>
            <p:cNvSpPr txBox="1"/>
            <p:nvPr/>
          </p:nvSpPr>
          <p:spPr>
            <a:xfrm>
              <a:off x="0" y="57150"/>
              <a:ext cx="3619500" cy="461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🔄 Methodology Flow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1. Data Ingestion &amp; Live Feeds</a:t>
              </a:r>
              <a:br>
                <a:rPr b="1" lang="en-US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Capture Project Data, CCTV, Reports &amp; Inspection Evidence.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2. Centralized AI Engine</a:t>
              </a:r>
              <a:br>
                <a:rPr b="1" lang="en-US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DRISHTI Central Platform performs risk scoring &amp; behavior analysis.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3. Automated Alert Trigger</a:t>
              </a:r>
              <a:br>
                <a:rPr b="1" lang="en-US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If anomaly is detected, trigger priority alert; else continue monitoring.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4. Smart surprise Inspection</a:t>
              </a:r>
              <a:br>
                <a:rPr b="1" lang="en-US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Assign nearby field officers via GPS. Capture tamper-proof photos/VC.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825"/>
                </a:spcAft>
                <a:buNone/>
              </a:pPr>
              <a:r>
                <a:rPr b="1" lang="en-US" sz="1100">
                  <a:solidFill>
                    <a:srgbClr val="1E3A8A"/>
                  </a:solidFill>
                  <a:latin typeface="Inter"/>
                  <a:ea typeface="Inter"/>
                  <a:cs typeface="Inter"/>
                  <a:sym typeface="Inter"/>
                </a:rPr>
                <a:t>5. Official Dashboard Action</a:t>
              </a:r>
              <a:br>
                <a:rPr b="1" lang="en-US" sz="11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Automated report generation and dashboard routing for follow-up.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70" name="Google Shape;170;g3fac772795a_0_1029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71" name="Google Shape;171;g3fac772795a_0_1029"/>
          <p:cNvGrpSpPr/>
          <p:nvPr/>
        </p:nvGrpSpPr>
        <p:grpSpPr>
          <a:xfrm>
            <a:off x="8001000" y="1476375"/>
            <a:ext cx="3762300" cy="4667400"/>
            <a:chOff x="0" y="0"/>
            <a:chExt cx="3762300" cy="4667400"/>
          </a:xfrm>
        </p:grpSpPr>
        <p:sp>
          <p:nvSpPr>
            <p:cNvPr id="172" name="Google Shape;172;g3fac772795a_0_1029"/>
            <p:cNvSpPr/>
            <p:nvPr/>
          </p:nvSpPr>
          <p:spPr>
            <a:xfrm>
              <a:off x="0" y="0"/>
              <a:ext cx="3762300" cy="4667400"/>
            </a:xfrm>
            <a:prstGeom prst="roundRect">
              <a:avLst>
                <a:gd fmla="val 303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g3fac772795a_0_1029"/>
            <p:cNvSpPr/>
            <p:nvPr/>
          </p:nvSpPr>
          <p:spPr>
            <a:xfrm>
              <a:off x="0" y="0"/>
              <a:ext cx="3762300" cy="573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g3fac772795a_0_1029"/>
            <p:cNvSpPr txBox="1"/>
            <p:nvPr/>
          </p:nvSpPr>
          <p:spPr>
            <a:xfrm>
              <a:off x="0" y="57150"/>
              <a:ext cx="3762300" cy="461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⚙️ Prototype &amp; Principle</a:t>
              </a:r>
              <a:endParaRPr b="1" sz="14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Prototype Workflow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2563EB"/>
                  </a:solidFill>
                  <a:highlight>
                    <a:srgbClr val="EEF2F6"/>
                  </a:highlight>
                  <a:latin typeface="Inter"/>
                  <a:ea typeface="Inter"/>
                  <a:cs typeface="Inter"/>
                  <a:sym typeface="Inter"/>
                </a:rPr>
                <a:t>App ➔ API Gateway ➔ AI Engine ➔ DB ➔ Dashboard</a:t>
              </a:r>
              <a:endParaRPr b="1" sz="10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Demonstrates role-based login, GPS-based allocation, evidence capture, anomaly alerts, and automated reporting.</a:t>
              </a:r>
              <a:endParaRPr b="0"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Core Operating Principle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highlight>
                    <a:srgbClr val="1E3A8A"/>
                  </a:highlight>
                  <a:latin typeface="Inter"/>
                  <a:ea typeface="Inter"/>
                  <a:cs typeface="Inter"/>
                  <a:sym typeface="Inter"/>
                </a:rPr>
                <a:t>MONITOR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⬇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highlight>
                    <a:srgbClr val="1E3A8A"/>
                  </a:highlight>
                  <a:latin typeface="Inter"/>
                  <a:ea typeface="Inter"/>
                  <a:cs typeface="Inter"/>
                  <a:sym typeface="Inter"/>
                </a:rPr>
                <a:t>DETECT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⬇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highlight>
                    <a:srgbClr val="1E3A8A"/>
                  </a:highlight>
                  <a:latin typeface="Inter"/>
                  <a:ea typeface="Inter"/>
                  <a:cs typeface="Inter"/>
                  <a:sym typeface="Inter"/>
                </a:rPr>
                <a:t>VERIFY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⬇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highlight>
                    <a:srgbClr val="1E3A8A"/>
                  </a:highlight>
                  <a:latin typeface="Inter"/>
                  <a:ea typeface="Inter"/>
                  <a:cs typeface="Inter"/>
                  <a:sym typeface="Inter"/>
                </a:rPr>
                <a:t>REPORT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⬇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highlight>
                    <a:srgbClr val="1E3A8A"/>
                  </a:highlight>
                  <a:latin typeface="Inter"/>
                  <a:ea typeface="Inter"/>
                  <a:cs typeface="Inter"/>
                  <a:sym typeface="Inter"/>
                </a:rPr>
                <a:t>ACT</a:t>
              </a:r>
              <a:endParaRPr b="1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75" name="Google Shape;175;g3fac772795a_0_10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61" y="228418"/>
            <a:ext cx="4202899" cy="1120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ac772795a_0_1504"/>
          <p:cNvSpPr/>
          <p:nvPr/>
        </p:nvSpPr>
        <p:spPr>
          <a:xfrm>
            <a:off x="79132" y="210312"/>
            <a:ext cx="11956800" cy="6437400"/>
          </a:xfrm>
          <a:prstGeom prst="rect">
            <a:avLst/>
          </a:prstGeom>
          <a:noFill/>
          <a:ln cap="flat" cmpd="sng" w="28575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g3fac772795a_0_1504"/>
          <p:cNvGrpSpPr/>
          <p:nvPr/>
        </p:nvGrpSpPr>
        <p:grpSpPr>
          <a:xfrm>
            <a:off x="4572000" y="428625"/>
            <a:ext cx="7207775" cy="762000"/>
            <a:chOff x="0" y="0"/>
            <a:chExt cx="7207775" cy="762000"/>
          </a:xfrm>
        </p:grpSpPr>
        <p:sp>
          <p:nvSpPr>
            <p:cNvPr id="183" name="Google Shape;183;g3fac772795a_0_1504"/>
            <p:cNvSpPr/>
            <p:nvPr/>
          </p:nvSpPr>
          <p:spPr>
            <a:xfrm>
              <a:off x="0" y="0"/>
              <a:ext cx="6667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g3fac772795a_0_1504"/>
            <p:cNvSpPr txBox="1"/>
            <p:nvPr/>
          </p:nvSpPr>
          <p:spPr>
            <a:xfrm>
              <a:off x="540275" y="0"/>
              <a:ext cx="666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21364F"/>
                  </a:solidFill>
                  <a:latin typeface="Oswald"/>
                  <a:ea typeface="Oswald"/>
                  <a:cs typeface="Oswald"/>
                  <a:sym typeface="Oswald"/>
                </a:rPr>
                <a:t>        </a:t>
              </a:r>
              <a:r>
                <a:rPr b="1" lang="en-US" sz="2800">
                  <a:solidFill>
                    <a:srgbClr val="21364F"/>
                  </a:solidFill>
                  <a:latin typeface="Oswald"/>
                  <a:ea typeface="Oswald"/>
                  <a:cs typeface="Oswald"/>
                  <a:sym typeface="Oswald"/>
                </a:rPr>
                <a:t>FEASIBILITY &amp; VIABILITY</a:t>
              </a:r>
              <a:endParaRPr b="1" i="0" sz="2800">
                <a:solidFill>
                  <a:srgbClr val="21364F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sp>
        <p:nvSpPr>
          <p:cNvPr id="185" name="Google Shape;185;g3fac772795a_0_150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6" name="Google Shape;186;g3fac772795a_0_1504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7" name="Google Shape;187;g3fac772795a_0_15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61" y="228418"/>
            <a:ext cx="4202899" cy="112054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fac772795a_0_1504"/>
          <p:cNvSpPr/>
          <p:nvPr/>
        </p:nvSpPr>
        <p:spPr>
          <a:xfrm>
            <a:off x="298775" y="1368575"/>
            <a:ext cx="11481000" cy="5055900"/>
          </a:xfrm>
          <a:prstGeom prst="roundRect">
            <a:avLst>
              <a:gd fmla="val 320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g3fac772795a_0_1504" title="s3 Layer 1.png"/>
          <p:cNvPicPr preferRelativeResize="0"/>
          <p:nvPr/>
        </p:nvPicPr>
        <p:blipFill rotWithShape="1">
          <a:blip r:embed="rId4">
            <a:alphaModFix/>
          </a:blip>
          <a:srcRect b="0" l="0" r="0" t="11348"/>
          <a:stretch/>
        </p:blipFill>
        <p:spPr>
          <a:xfrm>
            <a:off x="1038250" y="1475338"/>
            <a:ext cx="10002060" cy="484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ac772795a_0_1895"/>
          <p:cNvSpPr/>
          <p:nvPr/>
        </p:nvSpPr>
        <p:spPr>
          <a:xfrm>
            <a:off x="79132" y="210312"/>
            <a:ext cx="11956800" cy="6437400"/>
          </a:xfrm>
          <a:prstGeom prst="rect">
            <a:avLst/>
          </a:prstGeom>
          <a:noFill/>
          <a:ln cap="flat" cmpd="sng" w="28575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ac772795a_0_1895"/>
          <p:cNvSpPr txBox="1"/>
          <p:nvPr>
            <p:ph type="title"/>
          </p:nvPr>
        </p:nvSpPr>
        <p:spPr>
          <a:xfrm>
            <a:off x="4572000" y="428625"/>
            <a:ext cx="6667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1364F"/>
                </a:solidFill>
                <a:latin typeface="Oswald"/>
                <a:ea typeface="Oswald"/>
                <a:cs typeface="Oswald"/>
                <a:sym typeface="Oswald"/>
              </a:rPr>
              <a:t>IMPACT &amp; BENEFITS</a:t>
            </a:r>
            <a:endParaRPr b="1" sz="2800">
              <a:solidFill>
                <a:srgbClr val="21364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7" name="Google Shape;197;g3fac772795a_0_1895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8" name="Google Shape;198;g3fac772795a_0_1895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99" name="Google Shape;199;g3fac772795a_0_18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61" y="228418"/>
            <a:ext cx="4202899" cy="112054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fac772795a_0_1895"/>
          <p:cNvSpPr/>
          <p:nvPr/>
        </p:nvSpPr>
        <p:spPr>
          <a:xfrm>
            <a:off x="298775" y="1368575"/>
            <a:ext cx="11481000" cy="5055900"/>
          </a:xfrm>
          <a:prstGeom prst="roundRect">
            <a:avLst>
              <a:gd fmla="val 3200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g3fac772795a_0_1895" title="s4 Layer 1.png"/>
          <p:cNvPicPr preferRelativeResize="0"/>
          <p:nvPr/>
        </p:nvPicPr>
        <p:blipFill rotWithShape="1">
          <a:blip r:embed="rId4">
            <a:alphaModFix/>
          </a:blip>
          <a:srcRect b="0" l="0" r="1313" t="9239"/>
          <a:stretch/>
        </p:blipFill>
        <p:spPr>
          <a:xfrm>
            <a:off x="1897250" y="1535850"/>
            <a:ext cx="8705900" cy="463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ac772795a_112_58"/>
          <p:cNvSpPr/>
          <p:nvPr/>
        </p:nvSpPr>
        <p:spPr>
          <a:xfrm>
            <a:off x="79132" y="210312"/>
            <a:ext cx="11956800" cy="6437400"/>
          </a:xfrm>
          <a:prstGeom prst="rect">
            <a:avLst/>
          </a:prstGeom>
          <a:noFill/>
          <a:ln cap="flat" cmpd="sng" w="28575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3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g3fac772795a_112_58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9" name="Google Shape;209;g3fac772795a_112_58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10" name="Google Shape;210;g3fac772795a_112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61" y="228418"/>
            <a:ext cx="4202899" cy="1120547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fac772795a_112_58"/>
          <p:cNvSpPr txBox="1"/>
          <p:nvPr>
            <p:ph type="title"/>
          </p:nvPr>
        </p:nvSpPr>
        <p:spPr>
          <a:xfrm>
            <a:off x="4572000" y="428625"/>
            <a:ext cx="6667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1364F"/>
                </a:solidFill>
                <a:latin typeface="Oswald"/>
                <a:ea typeface="Oswald"/>
                <a:cs typeface="Oswald"/>
                <a:sym typeface="Oswald"/>
              </a:rPr>
              <a:t>REFERENCES &amp; RESEARCH — DRISHTI</a:t>
            </a:r>
            <a:endParaRPr b="1" sz="2800">
              <a:solidFill>
                <a:srgbClr val="21364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12" name="Google Shape;212;g3fac772795a_112_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41" y="1902588"/>
            <a:ext cx="11629159" cy="3900138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fac772795a_112_58"/>
          <p:cNvSpPr/>
          <p:nvPr/>
        </p:nvSpPr>
        <p:spPr>
          <a:xfrm>
            <a:off x="3725825" y="2754400"/>
            <a:ext cx="2014200" cy="287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4" name="Google Shape;214;g3fac772795a_112_58"/>
          <p:cNvSpPr txBox="1"/>
          <p:nvPr/>
        </p:nvSpPr>
        <p:spPr>
          <a:xfrm>
            <a:off x="3725675" y="2767750"/>
            <a:ext cx="20142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chemeClr val="hlink"/>
                </a:solidFill>
                <a:hlinkClick r:id="rId5"/>
              </a:rPr>
              <a:t>https://socialjustice.gov.in/</a:t>
            </a:r>
            <a:r>
              <a:rPr lang="en-US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15" name="Google Shape;215;g3fac772795a_112_58"/>
          <p:cNvSpPr/>
          <p:nvPr/>
        </p:nvSpPr>
        <p:spPr>
          <a:xfrm>
            <a:off x="3725675" y="3556575"/>
            <a:ext cx="2014200" cy="287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6" name="Google Shape;216;g3fac772795a_112_58"/>
          <p:cNvSpPr txBox="1"/>
          <p:nvPr/>
        </p:nvSpPr>
        <p:spPr>
          <a:xfrm>
            <a:off x="3725675" y="3569925"/>
            <a:ext cx="20142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chemeClr val="hlink"/>
                </a:solidFill>
                <a:hlinkClick r:id="rId6"/>
              </a:rPr>
              <a:t>https://socialjustice.gov.in/schemes</a:t>
            </a:r>
            <a:r>
              <a:rPr lang="en-US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17" name="Google Shape;217;g3fac772795a_112_58"/>
          <p:cNvSpPr/>
          <p:nvPr/>
        </p:nvSpPr>
        <p:spPr>
          <a:xfrm>
            <a:off x="3725825" y="4372100"/>
            <a:ext cx="2014200" cy="287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8" name="Google Shape;218;g3fac772795a_112_58"/>
          <p:cNvSpPr txBox="1"/>
          <p:nvPr/>
        </p:nvSpPr>
        <p:spPr>
          <a:xfrm>
            <a:off x="3725675" y="4385450"/>
            <a:ext cx="20142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chemeClr val="hlink"/>
                </a:solidFill>
                <a:hlinkClick r:id="rId7"/>
              </a:rPr>
              <a:t>https://digitalindia.gov.in/</a:t>
            </a:r>
            <a:r>
              <a:rPr lang="en-US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19" name="Google Shape;219;g3fac772795a_112_58"/>
          <p:cNvSpPr/>
          <p:nvPr/>
        </p:nvSpPr>
        <p:spPr>
          <a:xfrm>
            <a:off x="3725825" y="5187625"/>
            <a:ext cx="1983900" cy="287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0" name="Google Shape;220;g3fac772795a_112_58"/>
          <p:cNvSpPr txBox="1"/>
          <p:nvPr/>
        </p:nvSpPr>
        <p:spPr>
          <a:xfrm>
            <a:off x="3725850" y="5200975"/>
            <a:ext cx="19839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chemeClr val="hlink"/>
                </a:solidFill>
                <a:hlinkClick r:id="rId8"/>
              </a:rPr>
              <a:t>https://uidai.gov.in/</a:t>
            </a:r>
            <a:r>
              <a:rPr lang="en-US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21" name="Google Shape;221;g3fac772795a_112_58"/>
          <p:cNvSpPr txBox="1"/>
          <p:nvPr/>
        </p:nvSpPr>
        <p:spPr>
          <a:xfrm>
            <a:off x="9748300" y="2767750"/>
            <a:ext cx="14454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chemeClr val="hlink"/>
                </a:solidFill>
                <a:hlinkClick r:id="rId9"/>
              </a:rPr>
              <a:t>https://socialjustice.gov.in/</a:t>
            </a:r>
            <a:r>
              <a:rPr lang="en-US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22" name="Google Shape;222;g3fac772795a_112_58"/>
          <p:cNvSpPr/>
          <p:nvPr/>
        </p:nvSpPr>
        <p:spPr>
          <a:xfrm>
            <a:off x="9568300" y="3569925"/>
            <a:ext cx="2014200" cy="287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3" name="Google Shape;223;g3fac772795a_112_58"/>
          <p:cNvSpPr txBox="1"/>
          <p:nvPr/>
        </p:nvSpPr>
        <p:spPr>
          <a:xfrm>
            <a:off x="9568300" y="3583275"/>
            <a:ext cx="20142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chemeClr val="hlink"/>
                </a:solidFill>
                <a:hlinkClick r:id="rId10"/>
              </a:rPr>
              <a:t>https://docs.ultralytics.com/</a:t>
            </a:r>
            <a:r>
              <a:rPr lang="en-US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24" name="Google Shape;224;g3fac772795a_112_58"/>
          <p:cNvSpPr/>
          <p:nvPr/>
        </p:nvSpPr>
        <p:spPr>
          <a:xfrm>
            <a:off x="9598600" y="4372100"/>
            <a:ext cx="1983900" cy="287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5" name="Google Shape;225;g3fac772795a_112_58"/>
          <p:cNvSpPr txBox="1"/>
          <p:nvPr/>
        </p:nvSpPr>
        <p:spPr>
          <a:xfrm>
            <a:off x="9598600" y="4385450"/>
            <a:ext cx="19839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chemeClr val="hlink"/>
                </a:solidFill>
                <a:hlinkClick r:id="rId11"/>
              </a:rPr>
              <a:t>https://webrtc.org/</a:t>
            </a:r>
            <a:r>
              <a:rPr lang="en-US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26" name="Google Shape;226;g3fac772795a_112_58"/>
          <p:cNvSpPr/>
          <p:nvPr/>
        </p:nvSpPr>
        <p:spPr>
          <a:xfrm>
            <a:off x="9598600" y="5200975"/>
            <a:ext cx="1983900" cy="287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7" name="Google Shape;227;g3fac772795a_112_58"/>
          <p:cNvSpPr txBox="1"/>
          <p:nvPr/>
        </p:nvSpPr>
        <p:spPr>
          <a:xfrm>
            <a:off x="9598600" y="5214325"/>
            <a:ext cx="19839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chemeClr val="hlink"/>
                </a:solidFill>
                <a:hlinkClick r:id="rId12"/>
              </a:rPr>
              <a:t>https://postgresql.org/docs</a:t>
            </a:r>
            <a:r>
              <a:rPr lang="en-US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28" name="Google Shape;228;g3fac772795a_112_58"/>
          <p:cNvSpPr/>
          <p:nvPr/>
        </p:nvSpPr>
        <p:spPr>
          <a:xfrm>
            <a:off x="9568300" y="2767750"/>
            <a:ext cx="2014200" cy="2871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9" name="Google Shape;229;g3fac772795a_112_58"/>
          <p:cNvSpPr txBox="1"/>
          <p:nvPr/>
        </p:nvSpPr>
        <p:spPr>
          <a:xfrm>
            <a:off x="9568300" y="2767750"/>
            <a:ext cx="20142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u="sng">
                <a:solidFill>
                  <a:schemeClr val="hlink"/>
                </a:solidFill>
                <a:hlinkClick r:id="rId13"/>
              </a:rPr>
              <a:t>https://docs.opencv.org/</a:t>
            </a:r>
            <a:r>
              <a:rPr lang="en-US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